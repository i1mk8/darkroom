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3" r:id="rId9"/>
    <p:sldId id="262" r:id="rId10"/>
    <p:sldId id="264" r:id="rId11"/>
  </p:sldIdLst>
  <p:sldSz cx="12192000" cy="6858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Pixelizer" panose="02000803000000000000" pitchFamily="2" charset="0"/>
      <p:bold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Roboto Mono" panose="00000009000000000000" pitchFamily="50" charset="0"/>
      <p:bold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1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 showGuides="1">
      <p:cViewPr varScale="1">
        <p:scale>
          <a:sx n="161" d="100"/>
          <a:sy n="161" d="100"/>
        </p:scale>
        <p:origin x="150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8D920-3A33-4CD5-BB23-C09883E79338}" type="datetimeFigureOut">
              <a:rPr lang="ru-RU" smtClean="0"/>
              <a:t>11.06.2025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C7EB-C1D2-4222-9EFD-D57D75E822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20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8D920-3A33-4CD5-BB23-C09883E79338}" type="datetimeFigureOut">
              <a:rPr lang="ru-RU" smtClean="0"/>
              <a:t>11.06.2025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C7EB-C1D2-4222-9EFD-D57D75E822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182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8D920-3A33-4CD5-BB23-C09883E79338}" type="datetimeFigureOut">
              <a:rPr lang="ru-RU" smtClean="0"/>
              <a:t>11.06.2025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C7EB-C1D2-4222-9EFD-D57D75E822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124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8D920-3A33-4CD5-BB23-C09883E79338}" type="datetimeFigureOut">
              <a:rPr lang="ru-RU" smtClean="0"/>
              <a:t>11.06.2025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C7EB-C1D2-4222-9EFD-D57D75E822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8446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8D920-3A33-4CD5-BB23-C09883E79338}" type="datetimeFigureOut">
              <a:rPr lang="ru-RU" smtClean="0"/>
              <a:t>11.06.2025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C7EB-C1D2-4222-9EFD-D57D75E822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865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8D920-3A33-4CD5-BB23-C09883E79338}" type="datetimeFigureOut">
              <a:rPr lang="ru-RU" smtClean="0"/>
              <a:t>11.06.2025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C7EB-C1D2-4222-9EFD-D57D75E822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052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8D920-3A33-4CD5-BB23-C09883E79338}" type="datetimeFigureOut">
              <a:rPr lang="ru-RU" smtClean="0"/>
              <a:t>11.06.2025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C7EB-C1D2-4222-9EFD-D57D75E822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678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8D920-3A33-4CD5-BB23-C09883E79338}" type="datetimeFigureOut">
              <a:rPr lang="ru-RU" smtClean="0"/>
              <a:t>11.06.2025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C7EB-C1D2-4222-9EFD-D57D75E822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3124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8D920-3A33-4CD5-BB23-C09883E79338}" type="datetimeFigureOut">
              <a:rPr lang="ru-RU" smtClean="0"/>
              <a:t>11.06.2025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C7EB-C1D2-4222-9EFD-D57D75E822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8019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8D920-3A33-4CD5-BB23-C09883E79338}" type="datetimeFigureOut">
              <a:rPr lang="ru-RU" smtClean="0"/>
              <a:t>11.06.2025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C7EB-C1D2-4222-9EFD-D57D75E822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903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8D920-3A33-4CD5-BB23-C09883E79338}" type="datetimeFigureOut">
              <a:rPr lang="ru-RU" smtClean="0"/>
              <a:t>11.06.2025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C7EB-C1D2-4222-9EFD-D57D75E822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1594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8D920-3A33-4CD5-BB23-C09883E79338}" type="datetimeFigureOut">
              <a:rPr lang="ru-RU" smtClean="0"/>
              <a:t>11.06.2025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BC7EB-C1D2-4222-9EFD-D57D75E822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613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vkvideo.ru/video-230840606_456239018?list=ln-FqIGmm6mv4U9wU1N9j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hub.com/i1mk8/darkro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11500" dirty="0" smtClean="0">
                <a:solidFill>
                  <a:schemeClr val="bg1"/>
                </a:solidFill>
                <a:latin typeface="Pixelizer" panose="02000803000000000000" pitchFamily="2" charset="0"/>
                <a:ea typeface="Pixelizer" panose="02000803000000000000" pitchFamily="2" charset="0"/>
              </a:rPr>
              <a:t>DARKROOM</a:t>
            </a:r>
            <a:endParaRPr lang="ru-RU" sz="11500" dirty="0">
              <a:solidFill>
                <a:schemeClr val="bg1"/>
              </a:solidFill>
              <a:latin typeface="Pixelizer" panose="02000803000000000000" pitchFamily="2" charset="0"/>
              <a:ea typeface="Pixelizer" panose="02000803000000000000" pitchFamily="2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Аксёнов Михаил Дмитриевич</a:t>
            </a:r>
            <a:endParaRPr lang="ru-RU" sz="3200" dirty="0">
              <a:solidFill>
                <a:schemeClr val="bg1"/>
              </a:solidFill>
              <a:latin typeface="Roboto Mono" panose="00000009000000000000" pitchFamily="50" charset="0"/>
              <a:ea typeface="Roboto Mono" panose="00000009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804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600" dirty="0" smtClean="0">
                <a:solidFill>
                  <a:schemeClr val="bg1"/>
                </a:solidFill>
                <a:latin typeface="Pixelizer" panose="02000803000000000000" pitchFamily="2" charset="0"/>
                <a:ea typeface="Pixelizer" panose="02000803000000000000" pitchFamily="2" charset="0"/>
              </a:rPr>
              <a:t>Предисловие</a:t>
            </a:r>
            <a:endParaRPr lang="ru-RU" sz="6600" dirty="0">
              <a:solidFill>
                <a:schemeClr val="bg1"/>
              </a:solidFill>
              <a:latin typeface="Pixelizer" panose="02000803000000000000" pitchFamily="2" charset="0"/>
              <a:ea typeface="Pixelizer" panose="02000803000000000000" pitchFamily="2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76108" y="1674496"/>
            <a:ext cx="571989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На создание игры меня вдохновили </a:t>
            </a:r>
            <a:r>
              <a:rPr lang="ru-RU" dirty="0" err="1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хоррор</a:t>
            </a:r>
            <a:r>
              <a:rPr lang="ru-RU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 проекты с ограниченной видимостью, а также динамичный </a:t>
            </a:r>
            <a:r>
              <a:rPr lang="ru-RU" dirty="0" err="1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экшен</a:t>
            </a:r>
            <a:r>
              <a:rPr lang="ru-RU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Hotline Miami.</a:t>
            </a:r>
          </a:p>
        </p:txBody>
      </p:sp>
      <p:pic>
        <p:nvPicPr>
          <p:cNvPr id="1026" name="Picture 2" descr="Hotline Miami 2: Wrong Number is sculpted around expectations and the  franchise finale | Polyg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110" y="1690688"/>
            <a:ext cx="5711190" cy="3807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460931" y="5498148"/>
            <a:ext cx="3217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Геймплей</a:t>
            </a:r>
            <a:r>
              <a:rPr lang="ru-RU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Hotline Miami</a:t>
            </a:r>
            <a:endParaRPr lang="ru-RU" dirty="0">
              <a:solidFill>
                <a:schemeClr val="bg1"/>
              </a:solidFill>
              <a:latin typeface="Roboto Mono" panose="00000009000000000000" pitchFamily="50" charset="0"/>
              <a:ea typeface="Roboto Mono" panose="00000009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927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600" dirty="0" err="1" smtClean="0">
                <a:solidFill>
                  <a:schemeClr val="bg1"/>
                </a:solidFill>
                <a:latin typeface="Pixelizer" panose="02000803000000000000" pitchFamily="2" charset="0"/>
                <a:ea typeface="Pixelizer" panose="02000803000000000000" pitchFamily="2" charset="0"/>
              </a:rPr>
              <a:t>Геймплей</a:t>
            </a:r>
            <a:endParaRPr lang="ru-RU" sz="6600" dirty="0">
              <a:solidFill>
                <a:schemeClr val="bg1"/>
              </a:solidFill>
              <a:latin typeface="Pixelizer" panose="02000803000000000000" pitchFamily="2" charset="0"/>
              <a:ea typeface="Pixelizer" panose="02000803000000000000" pitchFamily="2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54832" y="1528762"/>
            <a:ext cx="5394268" cy="46434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Darkroom – </a:t>
            </a:r>
            <a:r>
              <a:rPr lang="ru-RU" sz="26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динамичный </a:t>
            </a:r>
            <a:r>
              <a:rPr lang="ru-RU" sz="2600" dirty="0" err="1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шутер</a:t>
            </a:r>
            <a:r>
              <a:rPr lang="ru-RU" sz="26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 с ограниченной зоной видимости</a:t>
            </a:r>
            <a:r>
              <a:rPr lang="en-US" sz="26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. </a:t>
            </a:r>
            <a:r>
              <a:rPr lang="ru-RU" sz="26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Чтобы победить, вам придется не только внимательно следить за окружением, но и прислушиваться к звукам – шагам и выстрелам, раскрывающим местоположение врагов</a:t>
            </a:r>
            <a:r>
              <a:rPr lang="en-US" sz="26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.</a:t>
            </a:r>
            <a:r>
              <a:rPr lang="ru-RU" sz="26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 Ваша цель – уничтожить как можно больше противников, сражаясь против ботов</a:t>
            </a:r>
            <a:r>
              <a:rPr lang="en-US" sz="26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. </a:t>
            </a:r>
            <a:endParaRPr lang="ru-RU" sz="2600" dirty="0" smtClean="0">
              <a:solidFill>
                <a:schemeClr val="bg1"/>
              </a:solidFill>
              <a:latin typeface="Roboto Mono" panose="00000009000000000000" pitchFamily="50" charset="0"/>
              <a:ea typeface="Roboto Mono" panose="00000009000000000000" pitchFamily="50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16" y="1528762"/>
            <a:ext cx="511492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394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600" dirty="0" smtClean="0">
                <a:solidFill>
                  <a:schemeClr val="bg1"/>
                </a:solidFill>
                <a:latin typeface="Pixelizer" panose="02000803000000000000" pitchFamily="2" charset="0"/>
                <a:ea typeface="Pixelizer" panose="02000803000000000000" pitchFamily="2" charset="0"/>
              </a:rPr>
              <a:t>Наполнение игры</a:t>
            </a:r>
            <a:endParaRPr lang="ru-RU" sz="6600" dirty="0">
              <a:solidFill>
                <a:schemeClr val="bg1"/>
              </a:solidFill>
              <a:latin typeface="Pixelizer" panose="02000803000000000000" pitchFamily="2" charset="0"/>
              <a:ea typeface="Pixelizer" panose="02000803000000000000" pitchFamily="2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76108" y="1690688"/>
            <a:ext cx="308060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Игровая карта представляет собой локацию со стенами</a:t>
            </a:r>
            <a:r>
              <a:rPr lang="en-US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. </a:t>
            </a:r>
            <a:r>
              <a:rPr lang="ru-RU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Каждый раз генерируется уникальная карта</a:t>
            </a:r>
            <a:r>
              <a:rPr lang="en-US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.</a:t>
            </a:r>
            <a:endParaRPr lang="ru-RU" dirty="0">
              <a:solidFill>
                <a:schemeClr val="bg1"/>
              </a:solidFill>
              <a:latin typeface="Roboto Mono" panose="00000009000000000000" pitchFamily="50" charset="0"/>
              <a:ea typeface="Roboto Mono" panose="00000009000000000000" pitchFamily="50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354" y="1690688"/>
            <a:ext cx="8249909" cy="412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18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600" dirty="0" smtClean="0">
                <a:solidFill>
                  <a:schemeClr val="bg1"/>
                </a:solidFill>
                <a:latin typeface="Pixelizer" panose="02000803000000000000" pitchFamily="2" charset="0"/>
                <a:ea typeface="Pixelizer" panose="02000803000000000000" pitchFamily="2" charset="0"/>
              </a:rPr>
              <a:t>Демонстрация </a:t>
            </a:r>
            <a:r>
              <a:rPr lang="ru-RU" sz="6600" dirty="0" err="1" smtClean="0">
                <a:solidFill>
                  <a:schemeClr val="bg1"/>
                </a:solidFill>
                <a:latin typeface="Pixelizer" panose="02000803000000000000" pitchFamily="2" charset="0"/>
                <a:ea typeface="Pixelizer" panose="02000803000000000000" pitchFamily="2" charset="0"/>
              </a:rPr>
              <a:t>геймплея</a:t>
            </a:r>
            <a:endParaRPr lang="ru-RU" sz="6600" dirty="0">
              <a:solidFill>
                <a:schemeClr val="bg1"/>
              </a:solidFill>
              <a:latin typeface="Pixelizer" panose="02000803000000000000" pitchFamily="2" charset="0"/>
              <a:ea typeface="Pixelizer" panose="02000803000000000000" pitchFamily="2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В этом видео показан игровой процесс, а также продемонстрирована работа ботов</a:t>
            </a:r>
            <a:r>
              <a:rPr lang="ru-RU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.</a:t>
            </a:r>
            <a:endParaRPr lang="en-US" dirty="0" smtClean="0">
              <a:solidFill>
                <a:schemeClr val="bg1"/>
              </a:solidFill>
              <a:latin typeface="Roboto Mono" panose="00000009000000000000" pitchFamily="50" charset="0"/>
              <a:ea typeface="Roboto Mono" panose="00000009000000000000" pitchFamily="50" charset="0"/>
            </a:endParaRPr>
          </a:p>
          <a:p>
            <a:pPr marL="0" indent="0">
              <a:buNone/>
            </a:pPr>
            <a:endParaRPr lang="ru-RU" dirty="0" smtClean="0">
              <a:solidFill>
                <a:schemeClr val="bg1"/>
              </a:solidFill>
              <a:latin typeface="Roboto Mono" panose="00000009000000000000" pitchFamily="50" charset="0"/>
              <a:ea typeface="Roboto Mono" panose="00000009000000000000" pitchFamily="50" charset="0"/>
            </a:endParaRPr>
          </a:p>
          <a:p>
            <a:pPr marL="0" indent="0">
              <a:buNone/>
            </a:pPr>
            <a:r>
              <a:rPr lang="ru-RU" dirty="0" err="1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Таймкоды</a:t>
            </a:r>
            <a:r>
              <a:rPr lang="en-US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: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0:00 – 1:01 </a:t>
            </a:r>
            <a:r>
              <a:rPr lang="ru-RU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– Обзор игрового процесса</a:t>
            </a:r>
          </a:p>
          <a:p>
            <a:pPr marL="0" indent="0">
              <a:buNone/>
            </a:pPr>
            <a:r>
              <a:rPr lang="ru-RU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1</a:t>
            </a:r>
            <a:r>
              <a:rPr lang="en-US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:01 – 1:48 </a:t>
            </a:r>
            <a:r>
              <a:rPr lang="ru-RU" dirty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–</a:t>
            </a:r>
            <a:r>
              <a:rPr lang="en-US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 </a:t>
            </a:r>
            <a:r>
              <a:rPr lang="ru-RU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Демонстрация ИИ ботов </a:t>
            </a:r>
            <a:r>
              <a:rPr lang="en-US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(debug </a:t>
            </a:r>
            <a:r>
              <a:rPr lang="ru-RU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режим</a:t>
            </a:r>
            <a:r>
              <a:rPr lang="en-US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)</a:t>
            </a:r>
          </a:p>
          <a:p>
            <a:pPr marL="0" indent="0">
              <a:buNone/>
            </a:pPr>
            <a:endParaRPr lang="ru-RU" dirty="0" smtClean="0">
              <a:solidFill>
                <a:schemeClr val="bg1"/>
              </a:solidFill>
              <a:latin typeface="Roboto Mono" panose="00000009000000000000" pitchFamily="50" charset="0"/>
              <a:ea typeface="Roboto Mono" panose="00000009000000000000" pitchFamily="50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  <a:hlinkClick r:id="rId2"/>
              </a:rPr>
              <a:t>https://vkvideo.ru/video-230840606_456239018?list=ln-FqIGmm6mv4U9wU1N9j</a:t>
            </a:r>
            <a:endParaRPr lang="ru-RU" dirty="0">
              <a:solidFill>
                <a:schemeClr val="bg1"/>
              </a:solidFill>
              <a:latin typeface="Roboto Mono" panose="00000009000000000000" pitchFamily="50" charset="0"/>
              <a:ea typeface="Roboto Mono" panose="00000009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33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600" dirty="0" smtClean="0">
                <a:solidFill>
                  <a:schemeClr val="bg1"/>
                </a:solidFill>
                <a:latin typeface="Pixelizer" panose="02000803000000000000" pitchFamily="2" charset="0"/>
                <a:ea typeface="Pixelizer" panose="02000803000000000000" pitchFamily="2" charset="0"/>
              </a:rPr>
              <a:t>Инструкция к игре</a:t>
            </a:r>
            <a:endParaRPr lang="ru-RU" sz="6600" dirty="0">
              <a:solidFill>
                <a:schemeClr val="bg1"/>
              </a:solidFill>
              <a:latin typeface="Pixelizer" panose="02000803000000000000" pitchFamily="2" charset="0"/>
              <a:ea typeface="Pixelizer" panose="02000803000000000000" pitchFamily="2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76108" y="1690688"/>
            <a:ext cx="1052049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Прежде чем начать играть, про</a:t>
            </a:r>
            <a:r>
              <a:rPr lang="ru-RU" dirty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й</a:t>
            </a:r>
            <a:r>
              <a:rPr lang="ru-RU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дите обучение</a:t>
            </a:r>
            <a:r>
              <a:rPr lang="en-US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, </a:t>
            </a:r>
            <a:r>
              <a:rPr lang="ru-RU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в котором вы сможете ознакомиться с управлением и механиками игры</a:t>
            </a:r>
            <a:r>
              <a:rPr lang="en-US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. </a:t>
            </a:r>
            <a:br>
              <a:rPr lang="en-US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</a:br>
            <a:r>
              <a:rPr lang="en-US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</a:br>
            <a:r>
              <a:rPr lang="ru-RU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Обязательно включите звук, чтобы слышать выстрелы и шаги противников</a:t>
            </a:r>
            <a:r>
              <a:rPr lang="en-US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.</a:t>
            </a:r>
            <a:endParaRPr lang="ru-RU" dirty="0" smtClean="0">
              <a:solidFill>
                <a:schemeClr val="bg1"/>
              </a:solidFill>
              <a:latin typeface="Roboto Mono" panose="00000009000000000000" pitchFamily="50" charset="0"/>
              <a:ea typeface="Roboto Mono" panose="00000009000000000000" pitchFamily="50" charset="0"/>
            </a:endParaRPr>
          </a:p>
          <a:p>
            <a:pPr marL="0" indent="0">
              <a:buNone/>
            </a:pPr>
            <a:endParaRPr lang="ru-RU" dirty="0">
              <a:solidFill>
                <a:schemeClr val="bg1"/>
              </a:solidFill>
              <a:latin typeface="Roboto Mono" panose="00000009000000000000" pitchFamily="50" charset="0"/>
              <a:ea typeface="Roboto Mono" panose="00000009000000000000" pitchFamily="50" charset="0"/>
            </a:endParaRPr>
          </a:p>
          <a:p>
            <a:pPr marL="0" indent="0">
              <a:buNone/>
            </a:pPr>
            <a:r>
              <a:rPr lang="ru-RU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Подсказка</a:t>
            </a:r>
            <a:r>
              <a:rPr lang="en-US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: </a:t>
            </a:r>
            <a:r>
              <a:rPr lang="ru-RU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вы услышите шаги, если враг будет вблизи вас</a:t>
            </a:r>
            <a:r>
              <a:rPr lang="en-US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. </a:t>
            </a:r>
            <a:r>
              <a:rPr lang="ru-RU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Чем дальше вы находитесь от места выстрела – тем тише будет его звук</a:t>
            </a:r>
            <a:r>
              <a:rPr lang="en-US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.</a:t>
            </a:r>
            <a:endParaRPr lang="ru-RU" dirty="0">
              <a:solidFill>
                <a:schemeClr val="bg1"/>
              </a:solidFill>
              <a:latin typeface="Roboto Mono" panose="00000009000000000000" pitchFamily="50" charset="0"/>
              <a:ea typeface="Roboto Mono" panose="00000009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0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600" dirty="0" smtClean="0">
                <a:solidFill>
                  <a:schemeClr val="bg1"/>
                </a:solidFill>
                <a:latin typeface="Pixelizer" panose="02000803000000000000" pitchFamily="2" charset="0"/>
                <a:ea typeface="Pixelizer" panose="02000803000000000000" pitchFamily="2" charset="0"/>
              </a:rPr>
              <a:t>Управление</a:t>
            </a:r>
            <a:endParaRPr lang="ru-RU" sz="6600" dirty="0">
              <a:solidFill>
                <a:schemeClr val="bg1"/>
              </a:solidFill>
              <a:latin typeface="Pixelizer" panose="02000803000000000000" pitchFamily="2" charset="0"/>
              <a:ea typeface="Pixelizer" panose="02000803000000000000" pitchFamily="2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76108" y="1690688"/>
            <a:ext cx="1052049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Для управления используется только клавиатура</a:t>
            </a:r>
            <a:r>
              <a:rPr lang="en-US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.</a:t>
            </a:r>
          </a:p>
          <a:p>
            <a:pPr marL="0" indent="0">
              <a:buNone/>
            </a:pPr>
            <a:endParaRPr lang="ru-RU" dirty="0">
              <a:solidFill>
                <a:schemeClr val="bg1"/>
              </a:solidFill>
              <a:latin typeface="Roboto Mono" panose="00000009000000000000" pitchFamily="50" charset="0"/>
              <a:ea typeface="Roboto Mono" panose="00000009000000000000" pitchFamily="50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6108" y="2516452"/>
            <a:ext cx="393265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W – </a:t>
            </a:r>
            <a:r>
              <a:rPr lang="ru-RU" sz="28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идти вперёд</a:t>
            </a:r>
            <a:endParaRPr lang="en-US" sz="2800" dirty="0" smtClean="0">
              <a:solidFill>
                <a:schemeClr val="bg1"/>
              </a:solidFill>
              <a:latin typeface="Roboto Mono" panose="00000009000000000000" pitchFamily="50" charset="0"/>
              <a:ea typeface="Roboto Mono" panose="00000009000000000000" pitchFamily="50" charset="0"/>
            </a:endParaRPr>
          </a:p>
          <a:p>
            <a:r>
              <a:rPr lang="en-US" sz="28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A – </a:t>
            </a:r>
            <a:r>
              <a:rPr lang="ru-RU" sz="28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идти влево</a:t>
            </a:r>
          </a:p>
          <a:p>
            <a:r>
              <a:rPr lang="en-US" sz="28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S – </a:t>
            </a:r>
            <a:r>
              <a:rPr lang="ru-RU" sz="28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идти назад</a:t>
            </a:r>
          </a:p>
          <a:p>
            <a:r>
              <a:rPr lang="en-US" sz="28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D – </a:t>
            </a:r>
            <a:r>
              <a:rPr lang="ru-RU" sz="28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идти вправо</a:t>
            </a:r>
          </a:p>
          <a:p>
            <a:endParaRPr lang="ru-RU" sz="2800" i="1" dirty="0">
              <a:solidFill>
                <a:schemeClr val="bg1"/>
              </a:solidFill>
              <a:latin typeface="Roboto Mono" panose="00000009000000000000" pitchFamily="50" charset="0"/>
              <a:ea typeface="Roboto Mono" panose="00000009000000000000" pitchFamily="50" charset="0"/>
            </a:endParaRPr>
          </a:p>
          <a:p>
            <a:r>
              <a:rPr lang="ru-RU" sz="28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Стрелочка вверх - стрелять</a:t>
            </a:r>
          </a:p>
          <a:p>
            <a:r>
              <a:rPr lang="ru-RU" sz="28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Пробел – стрелять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7128" y="2516452"/>
            <a:ext cx="730134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Стрелочка влево – повернуть камеру влево</a:t>
            </a:r>
          </a:p>
          <a:p>
            <a:r>
              <a:rPr lang="ru-RU" sz="24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Стрелочка вправо – повернуть камеру вправо</a:t>
            </a:r>
            <a:endParaRPr lang="ru-RU" sz="2400" dirty="0"/>
          </a:p>
          <a:p>
            <a:endParaRPr lang="ru-RU" sz="2400" dirty="0" smtClean="0">
              <a:solidFill>
                <a:schemeClr val="bg1"/>
              </a:solidFill>
              <a:latin typeface="Roboto Mono" panose="00000009000000000000" pitchFamily="50" charset="0"/>
              <a:ea typeface="Roboto Mono" panose="00000009000000000000" pitchFamily="50" charset="0"/>
            </a:endParaRPr>
          </a:p>
          <a:p>
            <a:r>
              <a:rPr lang="ru-RU" sz="24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Тильда – включить </a:t>
            </a:r>
            <a:r>
              <a:rPr lang="en-US" sz="24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debug </a:t>
            </a:r>
            <a:r>
              <a:rPr lang="ru-RU" sz="24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режим (подсвечивает игроков и пули)</a:t>
            </a:r>
            <a:endParaRPr lang="en-US" sz="2400" dirty="0" smtClean="0">
              <a:solidFill>
                <a:schemeClr val="bg1"/>
              </a:solidFill>
              <a:latin typeface="Roboto Mono" panose="00000009000000000000" pitchFamily="50" charset="0"/>
              <a:ea typeface="Roboto Mono" panose="00000009000000000000" pitchFamily="50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Escape - </a:t>
            </a:r>
            <a:r>
              <a:rPr lang="ru-RU" sz="24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пауза</a:t>
            </a:r>
          </a:p>
        </p:txBody>
      </p:sp>
    </p:spTree>
    <p:extLst>
      <p:ext uri="{BB962C8B-B14F-4D97-AF65-F5344CB8AC3E}">
        <p14:creationId xmlns:p14="http://schemas.microsoft.com/office/powerpoint/2010/main" val="1662253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600" dirty="0" smtClean="0">
                <a:solidFill>
                  <a:schemeClr val="bg1"/>
                </a:solidFill>
                <a:latin typeface="Pixelizer" panose="02000803000000000000" pitchFamily="2" charset="0"/>
                <a:ea typeface="Pixelizer" panose="02000803000000000000" pitchFamily="2" charset="0"/>
              </a:rPr>
              <a:t>Техническая реализация</a:t>
            </a:r>
            <a:endParaRPr lang="ru-RU" sz="6600" dirty="0">
              <a:solidFill>
                <a:schemeClr val="bg1"/>
              </a:solidFill>
              <a:latin typeface="Pixelizer" panose="02000803000000000000" pitchFamily="2" charset="0"/>
              <a:ea typeface="Pixelizer" panose="02000803000000000000" pitchFamily="2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40535" y="1690688"/>
            <a:ext cx="3540572" cy="4420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Для рендера поля зрения игрока используется алгоритм </a:t>
            </a:r>
            <a:r>
              <a:rPr lang="en-US" sz="20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Ray Casting. </a:t>
            </a:r>
            <a:r>
              <a:rPr lang="ru-RU" sz="20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Принцип</a:t>
            </a:r>
            <a:r>
              <a:rPr lang="en-US" sz="20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 </a:t>
            </a:r>
            <a:r>
              <a:rPr lang="ru-RU" sz="20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заключается в том, чтобы попиксельно отслеживать испускаемые из камеры лучи, чтобы найти ближайший объект, препятствующий пути каждого луча</a:t>
            </a:r>
            <a:r>
              <a:rPr lang="en-US" sz="2000" dirty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.</a:t>
            </a:r>
            <a:endParaRPr lang="ru-RU" sz="2000" dirty="0">
              <a:solidFill>
                <a:schemeClr val="bg1"/>
              </a:solidFill>
              <a:latin typeface="Roboto Mono" panose="00000009000000000000" pitchFamily="50" charset="0"/>
              <a:ea typeface="Roboto Mono" panose="00000009000000000000" pitchFamily="50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720" y="1690688"/>
            <a:ext cx="8095745" cy="470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443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600" dirty="0" smtClean="0">
                <a:solidFill>
                  <a:schemeClr val="bg1"/>
                </a:solidFill>
                <a:latin typeface="Pixelizer" panose="02000803000000000000" pitchFamily="2" charset="0"/>
                <a:ea typeface="Pixelizer" panose="02000803000000000000" pitchFamily="2" charset="0"/>
              </a:rPr>
              <a:t>Техническая реализация</a:t>
            </a:r>
            <a:endParaRPr lang="ru-RU" sz="6600" dirty="0">
              <a:solidFill>
                <a:schemeClr val="bg1"/>
              </a:solidFill>
              <a:latin typeface="Pixelizer" panose="02000803000000000000" pitchFamily="2" charset="0"/>
              <a:ea typeface="Pixelizer" panose="02000803000000000000" pitchFamily="2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7228074" y="1512067"/>
            <a:ext cx="4750566" cy="487013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0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Алгоритм действий бота</a:t>
            </a:r>
            <a:r>
              <a:rPr lang="en-US" sz="20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:</a:t>
            </a:r>
          </a:p>
          <a:p>
            <a:pPr marL="457200" indent="-457200">
              <a:buAutoNum type="arabicParenR"/>
            </a:pPr>
            <a:r>
              <a:rPr lang="ru-RU" sz="20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Бот выбирает случайную точку на карте, строит маршрут и начинает движение.</a:t>
            </a:r>
            <a:endParaRPr lang="en-US" sz="2000" dirty="0" smtClean="0">
              <a:solidFill>
                <a:schemeClr val="bg1"/>
              </a:solidFill>
              <a:latin typeface="Roboto Mono" panose="00000009000000000000" pitchFamily="50" charset="0"/>
              <a:ea typeface="Roboto Mono" panose="00000009000000000000" pitchFamily="50" charset="0"/>
            </a:endParaRPr>
          </a:p>
          <a:p>
            <a:pPr marL="457200" indent="-457200">
              <a:buAutoNum type="arabicParenR"/>
            </a:pPr>
            <a:r>
              <a:rPr lang="ru-RU" sz="20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Если во время движения бот слышит выстрелы, он прерывает текущий маршрут и направляется к источнику звука.</a:t>
            </a:r>
            <a:endParaRPr lang="en-US" sz="2000" dirty="0" smtClean="0">
              <a:solidFill>
                <a:schemeClr val="bg1"/>
              </a:solidFill>
              <a:latin typeface="Roboto Mono" panose="00000009000000000000" pitchFamily="50" charset="0"/>
              <a:ea typeface="Roboto Mono" panose="00000009000000000000" pitchFamily="50" charset="0"/>
            </a:endParaRPr>
          </a:p>
          <a:p>
            <a:pPr marL="457200" indent="-457200">
              <a:buAutoNum type="arabicParenR"/>
            </a:pPr>
            <a:r>
              <a:rPr lang="ru-RU" sz="20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Если противник попадает в поле зрения бота, он начинает прицеливание.</a:t>
            </a:r>
            <a:endParaRPr lang="en-US" sz="2000" dirty="0" smtClean="0">
              <a:solidFill>
                <a:schemeClr val="bg1"/>
              </a:solidFill>
              <a:latin typeface="Roboto Mono" panose="00000009000000000000" pitchFamily="50" charset="0"/>
              <a:ea typeface="Roboto Mono" panose="00000009000000000000" pitchFamily="50" charset="0"/>
            </a:endParaRPr>
          </a:p>
          <a:p>
            <a:pPr marL="457200" indent="-457200">
              <a:buAutoNum type="arabicParenR"/>
            </a:pPr>
            <a:r>
              <a:rPr lang="ru-RU" sz="20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Если пуля не может достичь цели (упирается в препятствие), бот меняет позицию для улучшения линии обстрела.</a:t>
            </a:r>
            <a:endParaRPr lang="en-US" sz="2000" dirty="0" smtClean="0">
              <a:solidFill>
                <a:schemeClr val="bg1"/>
              </a:solidFill>
              <a:latin typeface="Roboto Mono" panose="00000009000000000000" pitchFamily="50" charset="0"/>
              <a:ea typeface="Roboto Mono" panose="00000009000000000000" pitchFamily="50" charset="0"/>
            </a:endParaRPr>
          </a:p>
          <a:p>
            <a:pPr marL="457200" indent="-457200">
              <a:buAutoNum type="arabicParenR"/>
            </a:pPr>
            <a:r>
              <a:rPr lang="ru-RU" sz="2000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</a:rPr>
              <a:t>Если враг пропадает из поля зрения, бот двигается к его последней известной позиции.</a:t>
            </a:r>
            <a:endParaRPr lang="en-US" sz="2000" dirty="0" smtClean="0">
              <a:solidFill>
                <a:schemeClr val="bg1"/>
              </a:solidFill>
              <a:latin typeface="Roboto Mono" panose="00000009000000000000" pitchFamily="50" charset="0"/>
              <a:ea typeface="Roboto Mono" panose="00000009000000000000" pitchFamily="50" charset="0"/>
            </a:endParaRPr>
          </a:p>
          <a:p>
            <a:pPr marL="457200" indent="-457200">
              <a:buAutoNum type="arabicParenR"/>
            </a:pPr>
            <a:endParaRPr lang="en-US" sz="2000" dirty="0" smtClean="0">
              <a:solidFill>
                <a:schemeClr val="bg1"/>
              </a:solidFill>
              <a:latin typeface="Roboto Mono" panose="00000009000000000000" pitchFamily="50" charset="0"/>
              <a:ea typeface="Roboto Mono" panose="00000009000000000000" pitchFamily="50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" y="2030200"/>
            <a:ext cx="6830825" cy="383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58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600" dirty="0" err="1" smtClean="0">
                <a:solidFill>
                  <a:schemeClr val="bg1"/>
                </a:solidFill>
                <a:latin typeface="Pixelizer" panose="02000803000000000000" pitchFamily="2" charset="0"/>
                <a:ea typeface="Pixelizer" panose="02000803000000000000" pitchFamily="2" charset="0"/>
              </a:rPr>
              <a:t>Репозиторий</a:t>
            </a:r>
            <a:r>
              <a:rPr lang="ru-RU" sz="6600" dirty="0" smtClean="0">
                <a:solidFill>
                  <a:schemeClr val="bg1"/>
                </a:solidFill>
                <a:latin typeface="Pixelizer" panose="02000803000000000000" pitchFamily="2" charset="0"/>
                <a:ea typeface="Pixelizer" panose="02000803000000000000" pitchFamily="2" charset="0"/>
              </a:rPr>
              <a:t> с игрой</a:t>
            </a:r>
            <a:endParaRPr lang="ru-RU" sz="6600" dirty="0">
              <a:solidFill>
                <a:schemeClr val="bg1"/>
              </a:solidFill>
              <a:latin typeface="Pixelizer" panose="02000803000000000000" pitchFamily="2" charset="0"/>
              <a:ea typeface="Pixelizer" panose="02000803000000000000" pitchFamily="2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138108" y="6049328"/>
            <a:ext cx="10520492" cy="5257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 smtClean="0">
                <a:solidFill>
                  <a:schemeClr val="bg1"/>
                </a:solidFill>
                <a:latin typeface="Roboto Mono" panose="00000009000000000000" pitchFamily="50" charset="0"/>
                <a:ea typeface="Roboto Mono" panose="00000009000000000000" pitchFamily="50" charset="0"/>
                <a:hlinkClick r:id="rId2"/>
              </a:rPr>
              <a:t>https://github.com/i1mk8/darkroom</a:t>
            </a:r>
            <a:endParaRPr lang="ru-RU" dirty="0">
              <a:solidFill>
                <a:schemeClr val="bg1"/>
              </a:solidFill>
              <a:latin typeface="Roboto Mono" panose="00000009000000000000" pitchFamily="50" charset="0"/>
              <a:ea typeface="Roboto Mono" panose="00000009000000000000" pitchFamily="50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407" y="1690688"/>
            <a:ext cx="8813894" cy="420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692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332</Words>
  <Application>Microsoft Office PowerPoint</Application>
  <PresentationFormat>Широкоэкранный</PresentationFormat>
  <Paragraphs>46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Calibri</vt:lpstr>
      <vt:lpstr>Arial</vt:lpstr>
      <vt:lpstr>Pixelizer</vt:lpstr>
      <vt:lpstr>Calibri Light</vt:lpstr>
      <vt:lpstr>Roboto Mono</vt:lpstr>
      <vt:lpstr>Тема Office</vt:lpstr>
      <vt:lpstr>DARKROOM</vt:lpstr>
      <vt:lpstr>Предисловие</vt:lpstr>
      <vt:lpstr>Геймплей</vt:lpstr>
      <vt:lpstr>Наполнение игры</vt:lpstr>
      <vt:lpstr>Демонстрация геймплея</vt:lpstr>
      <vt:lpstr>Инструкция к игре</vt:lpstr>
      <vt:lpstr>Управление</vt:lpstr>
      <vt:lpstr>Техническая реализация</vt:lpstr>
      <vt:lpstr>Техническая реализация</vt:lpstr>
      <vt:lpstr>Репозиторий с игрой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DARKROOM</dc:title>
  <dc:creator>Учетная запись Майкрософт</dc:creator>
  <cp:lastModifiedBy>Учетная запись Майкрософт</cp:lastModifiedBy>
  <cp:revision>19</cp:revision>
  <dcterms:created xsi:type="dcterms:W3CDTF">2025-06-09T15:21:17Z</dcterms:created>
  <dcterms:modified xsi:type="dcterms:W3CDTF">2025-06-11T10:41:31Z</dcterms:modified>
</cp:coreProperties>
</file>